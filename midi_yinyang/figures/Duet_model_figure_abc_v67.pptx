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280773" cy="5888736"/>
  <p:notesSz cx="5888736" cy="1228077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0" y="0"/>
                </a:moveTo>
                <a:lnTo>
                  <a:pt x="1444752" y="0"/>
                </a:lnTo>
                <a:lnTo>
                  <a:pt x="2738628" y="526923"/>
                </a:lnTo>
                <a:lnTo>
                  <a:pt x="77724" y="526923"/>
                </a:lnTo>
                <a:close/>
              </a:path>
            </a:pathLst>
          </a:custGeom>
          <a:solidFill>
            <a:srgbClr val="857A9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7532" y="4630293"/>
            <a:ext cx="2738628" cy="526923"/>
          </a:xfrm>
          <a:custGeom>
            <a:avLst/>
            <a:gdLst/>
            <a:ahLst/>
            <a:cxnLst/>
            <a:rect l="l" t="t" r="r" b="b"/>
            <a:pathLst>
              <a:path w="2738628" h="526923">
                <a:moveTo>
                  <a:pt x="1293876" y="0"/>
                </a:moveTo>
                <a:lnTo>
                  <a:pt x="2738628" y="0"/>
                </a:lnTo>
                <a:lnTo>
                  <a:pt x="2660904" y="526923"/>
                </a:lnTo>
                <a:lnTo>
                  <a:pt x="0" y="526923"/>
                </a:lnTo>
                <a:close/>
              </a:path>
            </a:pathLst>
          </a:custGeom>
          <a:solidFill>
            <a:srgbClr val="97AF7E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370832" y="3227832"/>
            <a:ext cx="3877056" cy="731520"/>
          </a:xfrm>
          <a:prstGeom prst="rect">
            <a:avLst/>
          </a:prstGeom>
          <a:solidFill>
            <a:srgbClr val="FFFCF4"/>
          </a:solidFill>
          <a:ln/>
        </p:spPr>
      </p:sp>
      <p:sp>
        <p:nvSpPr>
          <p:cNvPr id="5" name="Shape 3"/>
          <p:cNvSpPr/>
          <p:nvPr/>
        </p:nvSpPr>
        <p:spPr>
          <a:xfrm>
            <a:off x="4736592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0" y="361188"/>
                </a:moveTo>
                <a:lnTo>
                  <a:pt x="1444752" y="361188"/>
                </a:lnTo>
                <a:lnTo>
                  <a:pt x="2738628" y="0"/>
                </a:lnTo>
                <a:lnTo>
                  <a:pt x="77724" y="0"/>
                </a:lnTo>
                <a:close/>
              </a:path>
            </a:pathLst>
          </a:custGeom>
          <a:solidFill>
            <a:srgbClr val="857A94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143500" y="1115568"/>
            <a:ext cx="2738628" cy="361188"/>
          </a:xfrm>
          <a:custGeom>
            <a:avLst/>
            <a:gdLst/>
            <a:ahLst/>
            <a:cxnLst/>
            <a:rect l="l" t="t" r="r" b="b"/>
            <a:pathLst>
              <a:path w="2738628" h="361188">
                <a:moveTo>
                  <a:pt x="1293876" y="361188"/>
                </a:moveTo>
                <a:lnTo>
                  <a:pt x="2738628" y="361188"/>
                </a:lnTo>
                <a:lnTo>
                  <a:pt x="2660904" y="0"/>
                </a:lnTo>
                <a:lnTo>
                  <a:pt x="0" y="0"/>
                </a:lnTo>
                <a:close/>
              </a:path>
            </a:pathLst>
          </a:custGeom>
          <a:solidFill>
            <a:srgbClr val="97AF7E">
              <a:alpha val="4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20624" y="4264533"/>
            <a:ext cx="1444752" cy="36576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0624" y="3673602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" y="3046095"/>
            <a:ext cx="347472" cy="36576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14400" y="3046095"/>
            <a:ext cx="768096" cy="36576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235708"/>
            <a:ext cx="749808" cy="36576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207008" y="2235708"/>
            <a:ext cx="749808" cy="365760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325880" y="1754505"/>
            <a:ext cx="512064" cy="347472"/>
          </a:xfrm>
          <a:prstGeom prst="rect">
            <a:avLst/>
          </a:prstGeom>
          <a:solidFill>
            <a:srgbClr val="DCE6F2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20624" y="1181862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0624" y="627507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0624" y="91440"/>
            <a:ext cx="1444752" cy="36576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121408" y="4264533"/>
            <a:ext cx="1444752" cy="36576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21408" y="3673602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Linear QKV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3046095"/>
            <a:ext cx="347472" cy="36576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304288" y="3046095"/>
            <a:ext cx="768096" cy="36576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&amp;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62656" y="2235708"/>
            <a:ext cx="749808" cy="36576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Self Attn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029968" y="2235708"/>
            <a:ext cx="749808" cy="365760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Cross Attn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1754505"/>
            <a:ext cx="512064" cy="347472"/>
          </a:xfrm>
          <a:prstGeom prst="rect">
            <a:avLst/>
          </a:prstGeom>
          <a:solidFill>
            <a:srgbClr val="F4A79A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Gate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21408" y="1181862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proj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121408" y="627507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21408" y="91440"/>
            <a:ext cx="1444752" cy="36576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498848" y="3483864"/>
            <a:ext cx="786384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13248" y="3483864"/>
            <a:ext cx="786384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483864"/>
            <a:ext cx="786384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333488" y="3483864"/>
            <a:ext cx="786384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MLP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36592" y="4293108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36592" y="2139696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37376" y="4293108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Top-2 Router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2139696"/>
            <a:ext cx="1444752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&amp; Norm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279392" y="91440"/>
            <a:ext cx="4059936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30303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25696" y="173736"/>
            <a:ext cx="457200" cy="201168"/>
          </a:xfrm>
          <a:prstGeom prst="rect">
            <a:avLst/>
          </a:prstGeom>
          <a:solidFill>
            <a:srgbClr val="FFF8E7"/>
          </a:solidFill>
          <a:ln w="19050">
            <a:solidFill>
              <a:srgbClr val="30303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25696" y="448056"/>
            <a:ext cx="457200" cy="201168"/>
          </a:xfrm>
          <a:prstGeom prst="rect">
            <a:avLst/>
          </a:prstGeom>
          <a:solidFill>
            <a:srgbClr val="FFF8E7"/>
          </a:solidFill>
          <a:ln w="19050">
            <a:solidFill>
              <a:srgbClr val="303030"/>
            </a:solidFill>
            <a:prstDash val="sysDot"/>
          </a:ln>
        </p:spPr>
      </p:sp>
      <p:sp>
        <p:nvSpPr>
          <p:cNvPr id="38" name="Text 36"/>
          <p:cNvSpPr/>
          <p:nvPr/>
        </p:nvSpPr>
        <p:spPr>
          <a:xfrm>
            <a:off x="9354693" y="1298448"/>
            <a:ext cx="384048" cy="384048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11893" y="1298448"/>
            <a:ext cx="384048" cy="384048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10269093" y="1298448"/>
            <a:ext cx="384048" cy="384048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0726293" y="1298448"/>
            <a:ext cx="384048" cy="384048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263253" y="694944"/>
            <a:ext cx="2926080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269093" y="91440"/>
            <a:ext cx="384048" cy="384048"/>
          </a:xfrm>
          <a:prstGeom prst="ellipse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354693" y="3172968"/>
            <a:ext cx="384048" cy="384048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811893" y="3172968"/>
            <a:ext cx="384048" cy="384048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0269093" y="3172968"/>
            <a:ext cx="384048" cy="384048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0726293" y="3172968"/>
            <a:ext cx="384048" cy="384048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1183493" y="3172968"/>
            <a:ext cx="384048" cy="384048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1640693" y="3172968"/>
            <a:ext cx="384048" cy="384048"/>
          </a:xfrm>
          <a:prstGeom prst="rect">
            <a:avLst/>
          </a:prstGeom>
          <a:solidFill>
            <a:srgbClr val="EAEAEA"/>
          </a:solidFill>
          <a:ln w="19050">
            <a:solidFill>
              <a:srgbClr val="3A3A3A"/>
            </a:solidFill>
            <a:prstDash val="sysDot"/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263253" y="2569464"/>
            <a:ext cx="2926080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11183493" y="1965960"/>
            <a:ext cx="384048" cy="384048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11640693" y="1965960"/>
            <a:ext cx="384048" cy="384048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9354693" y="5047488"/>
            <a:ext cx="384048" cy="384048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11893" y="5047488"/>
            <a:ext cx="384048" cy="384048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10269093" y="5047488"/>
            <a:ext cx="384048" cy="384048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10726293" y="5047488"/>
            <a:ext cx="384048" cy="384048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11183493" y="5047488"/>
            <a:ext cx="384048" cy="384048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11640693" y="5047488"/>
            <a:ext cx="384048" cy="384048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263253" y="4443984"/>
            <a:ext cx="2926080" cy="365760"/>
          </a:xfrm>
          <a:prstGeom prst="rect">
            <a:avLst/>
          </a:prstGeom>
          <a:solidFill>
            <a:srgbClr val="FFF8E7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Duet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blocks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11640693" y="3840480"/>
            <a:ext cx="384048" cy="384048"/>
          </a:xfrm>
          <a:prstGeom prst="ellipse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98348" y="5138928"/>
            <a:ext cx="274320" cy="27432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27532" y="5138928"/>
            <a:ext cx="274320" cy="27432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56716" y="5138928"/>
            <a:ext cx="274320" cy="27432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85900" y="5138928"/>
            <a:ext cx="274320" cy="27432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815084" y="5138928"/>
            <a:ext cx="274320" cy="27432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144268" y="5138928"/>
            <a:ext cx="274320" cy="27432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884932" y="5138928"/>
            <a:ext cx="274320" cy="27432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14116" y="5138928"/>
            <a:ext cx="274320" cy="27432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1143000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 flipV="1">
            <a:off x="594360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1" name="Shape 69"/>
          <p:cNvSpPr/>
          <p:nvPr/>
        </p:nvSpPr>
        <p:spPr>
          <a:xfrm flipV="1">
            <a:off x="1144829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 flipV="1">
            <a:off x="145206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 flipV="1">
            <a:off x="158191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 flipH="1">
            <a:off x="1252728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V="1">
            <a:off x="649224" y="1928241"/>
            <a:ext cx="3658" cy="289179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649224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143000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143000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79" name="Shape 77"/>
          <p:cNvSpPr/>
          <p:nvPr/>
        </p:nvSpPr>
        <p:spPr>
          <a:xfrm flipV="1">
            <a:off x="1143000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0" name="Shape 78"/>
          <p:cNvSpPr/>
          <p:nvPr/>
        </p:nvSpPr>
        <p:spPr>
          <a:xfrm flipH="1">
            <a:off x="91440" y="4447413"/>
            <a:ext cx="329184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flipV="1">
            <a:off x="91440" y="810387"/>
            <a:ext cx="3658" cy="363702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91440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3" name="Shape 81"/>
          <p:cNvSpPr/>
          <p:nvPr/>
        </p:nvSpPr>
        <p:spPr>
          <a:xfrm flipV="1">
            <a:off x="2843784" y="4057650"/>
            <a:ext cx="3658" cy="18859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4" name="Shape 82"/>
          <p:cNvSpPr/>
          <p:nvPr/>
        </p:nvSpPr>
        <p:spPr>
          <a:xfrm flipV="1">
            <a:off x="3392424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5" name="Shape 83"/>
          <p:cNvSpPr/>
          <p:nvPr/>
        </p:nvSpPr>
        <p:spPr>
          <a:xfrm flipV="1">
            <a:off x="2534717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2841955" y="3430143"/>
            <a:ext cx="3658" cy="22517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2404872" y="2120265"/>
            <a:ext cx="3658" cy="97155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2679192" y="1928241"/>
            <a:ext cx="54864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89" name="Shape 87"/>
          <p:cNvSpPr/>
          <p:nvPr/>
        </p:nvSpPr>
        <p:spPr>
          <a:xfrm flipV="1">
            <a:off x="3337560" y="1928241"/>
            <a:ext cx="3658" cy="289179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 flipH="1">
            <a:off x="2953512" y="1928241"/>
            <a:ext cx="384048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2843784" y="1565910"/>
            <a:ext cx="3658" cy="252603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2" name="Shape 90"/>
          <p:cNvSpPr/>
          <p:nvPr/>
        </p:nvSpPr>
        <p:spPr>
          <a:xfrm flipV="1">
            <a:off x="2843784" y="1011555"/>
            <a:ext cx="3658" cy="152019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3" name="Shape 91"/>
          <p:cNvSpPr/>
          <p:nvPr/>
        </p:nvSpPr>
        <p:spPr>
          <a:xfrm flipV="1">
            <a:off x="2843784" y="475488"/>
            <a:ext cx="3658" cy="133731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4" name="Shape 92"/>
          <p:cNvSpPr/>
          <p:nvPr/>
        </p:nvSpPr>
        <p:spPr>
          <a:xfrm>
            <a:off x="3566160" y="4447413"/>
            <a:ext cx="329184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flipV="1">
            <a:off x="3895344" y="810387"/>
            <a:ext cx="3658" cy="363702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 flipH="1">
            <a:off x="3584448" y="810387"/>
            <a:ext cx="310896" cy="3658"/>
          </a:xfrm>
          <a:prstGeom prst="line">
            <a:avLst/>
          </a:prstGeom>
          <a:noFill/>
          <a:ln w="13970">
            <a:solidFill>
              <a:srgbClr val="3A3A3A"/>
            </a:solidFill>
            <a:prstDash val="solid"/>
            <a:tailEnd type="triangle"/>
          </a:ln>
        </p:spPr>
      </p:sp>
      <p:sp>
        <p:nvSpPr>
          <p:cNvPr id="97" name="Shape 95"/>
          <p:cNvSpPr/>
          <p:nvPr/>
        </p:nvSpPr>
        <p:spPr>
          <a:xfrm flipH="1" flipV="1">
            <a:off x="466344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8" name="Shape 96"/>
          <p:cNvSpPr/>
          <p:nvPr/>
        </p:nvSpPr>
        <p:spPr>
          <a:xfrm flipH="1" flipV="1">
            <a:off x="83210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99" name="Shape 97"/>
          <p:cNvSpPr/>
          <p:nvPr/>
        </p:nvSpPr>
        <p:spPr>
          <a:xfrm flipV="1">
            <a:off x="3502152" y="2619756"/>
            <a:ext cx="18288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 flipV="1">
            <a:off x="2798064" y="2619756"/>
            <a:ext cx="356616" cy="408051"/>
          </a:xfrm>
          <a:prstGeom prst="line">
            <a:avLst/>
          </a:prstGeom>
          <a:noFill/>
          <a:ln w="13970">
            <a:solidFill>
              <a:srgbClr val="8C8C8C"/>
            </a:solidFill>
            <a:prstDash val="solid"/>
            <a:tailEnd type="triangle"/>
          </a:ln>
        </p:spPr>
      </p:sp>
      <p:sp>
        <p:nvSpPr>
          <p:cNvPr id="101" name="Text 99"/>
          <p:cNvSpPr/>
          <p:nvPr/>
        </p:nvSpPr>
        <p:spPr>
          <a:xfrm>
            <a:off x="4736592" y="5065776"/>
            <a:ext cx="1444752" cy="36576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02" name="Shape 100"/>
          <p:cNvSpPr/>
          <p:nvPr/>
        </p:nvSpPr>
        <p:spPr>
          <a:xfrm flipV="1">
            <a:off x="5458968" y="4677156"/>
            <a:ext cx="3658" cy="37033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3" name="Shape 101"/>
          <p:cNvSpPr/>
          <p:nvPr/>
        </p:nvSpPr>
        <p:spPr>
          <a:xfrm flipH="1" flipV="1">
            <a:off x="4892040" y="3867912"/>
            <a:ext cx="566928" cy="4069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4" name="Shape 102"/>
          <p:cNvSpPr/>
          <p:nvPr/>
        </p:nvSpPr>
        <p:spPr>
          <a:xfrm flipV="1">
            <a:off x="5458968" y="3867912"/>
            <a:ext cx="347472" cy="4069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 flipV="1">
            <a:off x="4892040" y="2948940"/>
            <a:ext cx="502920" cy="5166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6" name="Shape 104"/>
          <p:cNvSpPr/>
          <p:nvPr/>
        </p:nvSpPr>
        <p:spPr>
          <a:xfrm flipH="1" flipV="1">
            <a:off x="5522976" y="2948940"/>
            <a:ext cx="283464" cy="5166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 flipV="1">
            <a:off x="5458968" y="2523744"/>
            <a:ext cx="3658" cy="20574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08" name="Shape 106"/>
          <p:cNvSpPr/>
          <p:nvPr/>
        </p:nvSpPr>
        <p:spPr>
          <a:xfrm flipH="1">
            <a:off x="4279392" y="5248656"/>
            <a:ext cx="457200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279392" y="2322576"/>
            <a:ext cx="3658" cy="29260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4279392" y="2322576"/>
            <a:ext cx="438912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4736592" y="1476756"/>
            <a:ext cx="1444752" cy="36576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x,1:T−1</a:t>
            </a:r>
            <a:endParaRPr lang="en-US" sz="1050" dirty="0"/>
          </a:p>
        </p:txBody>
      </p:sp>
      <p:sp>
        <p:nvSpPr>
          <p:cNvPr id="112" name="Shape 110"/>
          <p:cNvSpPr/>
          <p:nvPr/>
        </p:nvSpPr>
        <p:spPr>
          <a:xfrm flipV="1">
            <a:off x="5458968" y="1860804"/>
            <a:ext cx="3658" cy="26060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6437376" y="5065776"/>
            <a:ext cx="1444752" cy="36576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h̃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 flipV="1">
            <a:off x="7159752" y="4677156"/>
            <a:ext cx="3658" cy="370332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5" name="Shape 113"/>
          <p:cNvSpPr/>
          <p:nvPr/>
        </p:nvSpPr>
        <p:spPr>
          <a:xfrm flipH="1" flipV="1">
            <a:off x="5806440" y="3867912"/>
            <a:ext cx="1353312" cy="4069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6" name="Shape 114"/>
          <p:cNvSpPr/>
          <p:nvPr/>
        </p:nvSpPr>
        <p:spPr>
          <a:xfrm flipV="1">
            <a:off x="7159752" y="3867912"/>
            <a:ext cx="566928" cy="40690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7" name="Shape 115"/>
          <p:cNvSpPr/>
          <p:nvPr/>
        </p:nvSpPr>
        <p:spPr>
          <a:xfrm flipV="1">
            <a:off x="5806440" y="2948940"/>
            <a:ext cx="1289304" cy="5166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8" name="Shape 116"/>
          <p:cNvSpPr/>
          <p:nvPr/>
        </p:nvSpPr>
        <p:spPr>
          <a:xfrm flipH="1" flipV="1">
            <a:off x="7223760" y="2948940"/>
            <a:ext cx="502920" cy="516636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19" name="Shape 117"/>
          <p:cNvSpPr/>
          <p:nvPr/>
        </p:nvSpPr>
        <p:spPr>
          <a:xfrm flipV="1">
            <a:off x="7159752" y="2523744"/>
            <a:ext cx="3658" cy="20574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0" name="Shape 118"/>
          <p:cNvSpPr/>
          <p:nvPr/>
        </p:nvSpPr>
        <p:spPr>
          <a:xfrm>
            <a:off x="7882128" y="5248656"/>
            <a:ext cx="457200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339328" y="2322576"/>
            <a:ext cx="3658" cy="29260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H="1">
            <a:off x="7900416" y="2322576"/>
            <a:ext cx="438912" cy="365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3" name="Text 121"/>
          <p:cNvSpPr/>
          <p:nvPr/>
        </p:nvSpPr>
        <p:spPr>
          <a:xfrm>
            <a:off x="6437376" y="1476756"/>
            <a:ext cx="1444752" cy="36576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</a:ln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050" i="1" baseline="3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(l+1)</a:t>
            </a:r>
            <a:pPr algn="ctr" indent="0" marL="0">
              <a:buNone/>
            </a:pPr>
            <a:r>
              <a:rPr lang="en-US" sz="1050" i="1" baseline="-400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y,1:T−1</a:t>
            </a:r>
            <a:endParaRPr lang="en-US" sz="1050" dirty="0"/>
          </a:p>
        </p:txBody>
      </p:sp>
      <p:sp>
        <p:nvSpPr>
          <p:cNvPr id="124" name="Shape 122"/>
          <p:cNvSpPr/>
          <p:nvPr/>
        </p:nvSpPr>
        <p:spPr>
          <a:xfrm flipV="1">
            <a:off x="7159752" y="1860804"/>
            <a:ext cx="3658" cy="260604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25" name="Shape 123"/>
          <p:cNvSpPr/>
          <p:nvPr/>
        </p:nvSpPr>
        <p:spPr>
          <a:xfrm>
            <a:off x="4814316" y="859536"/>
            <a:ext cx="274320" cy="27432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5143500" y="859536"/>
            <a:ext cx="274320" cy="27432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72684" y="859536"/>
            <a:ext cx="274320" cy="27432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801868" y="859536"/>
            <a:ext cx="274320" cy="27432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31052" y="859536"/>
            <a:ext cx="274320" cy="27432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460236" y="859536"/>
            <a:ext cx="274320" cy="27432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200900" y="859536"/>
            <a:ext cx="274320" cy="274320"/>
          </a:xfrm>
          <a:prstGeom prst="rect">
            <a:avLst/>
          </a:prstGeom>
          <a:solidFill>
            <a:srgbClr val="A599B4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7530084" y="859536"/>
            <a:ext cx="274320" cy="274320"/>
          </a:xfrm>
          <a:prstGeom prst="rect">
            <a:avLst/>
          </a:prstGeom>
          <a:solidFill>
            <a:srgbClr val="BDD2A6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10232517" y="107899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4" name="Shape 132"/>
          <p:cNvSpPr/>
          <p:nvPr/>
        </p:nvSpPr>
        <p:spPr>
          <a:xfrm flipV="1">
            <a:off x="10461117" y="49377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5" name="Shape 133"/>
          <p:cNvSpPr/>
          <p:nvPr/>
        </p:nvSpPr>
        <p:spPr>
          <a:xfrm flipV="1">
            <a:off x="10689717" y="295351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6" name="Shape 134"/>
          <p:cNvSpPr/>
          <p:nvPr/>
        </p:nvSpPr>
        <p:spPr>
          <a:xfrm flipV="1">
            <a:off x="11375517" y="236829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7" name="Shape 135"/>
          <p:cNvSpPr/>
          <p:nvPr/>
        </p:nvSpPr>
        <p:spPr>
          <a:xfrm flipV="1">
            <a:off x="11832717" y="236829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8" name="Shape 136"/>
          <p:cNvSpPr/>
          <p:nvPr/>
        </p:nvSpPr>
        <p:spPr>
          <a:xfrm flipV="1">
            <a:off x="10689717" y="4828032"/>
            <a:ext cx="3658" cy="201168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39" name="Shape 137"/>
          <p:cNvSpPr/>
          <p:nvPr/>
        </p:nvSpPr>
        <p:spPr>
          <a:xfrm flipV="1">
            <a:off x="11832717" y="4242816"/>
            <a:ext cx="3658" cy="182880"/>
          </a:xfrm>
          <a:prstGeom prst="line">
            <a:avLst/>
          </a:prstGeom>
          <a:noFill/>
          <a:ln w="13970">
            <a:solidFill>
              <a:srgbClr val="303030"/>
            </a:solidFill>
            <a:prstDash val="solid"/>
            <a:tailEnd type="triangle"/>
          </a:ln>
        </p:spPr>
      </p:sp>
      <p:sp>
        <p:nvSpPr>
          <p:cNvPr id="140" name="Text 138"/>
          <p:cNvSpPr txBox="1"/>
          <p:nvPr/>
        </p:nvSpPr>
        <p:spPr>
          <a:xfrm>
            <a:off x="2468880" y="5120640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1" name="Shape 139"/>
          <p:cNvSpPr/>
          <p:nvPr/>
        </p:nvSpPr>
        <p:spPr>
          <a:xfrm>
            <a:off x="704088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0" y="408051"/>
                </a:moveTo>
                <a:cubicBezTo>
                  <a:pt x="0" y="204026"/>
                  <a:pt x="694944" y="204026"/>
                  <a:pt x="694944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B7C9DE"/>
            </a:solidFill>
            <a:prstDash val="solid"/>
            <a:tailEnd type="triangle"/>
          </a:ln>
        </p:spPr>
      </p:sp>
      <p:sp>
        <p:nvSpPr>
          <p:cNvPr id="142" name="Shape 140"/>
          <p:cNvSpPr/>
          <p:nvPr/>
        </p:nvSpPr>
        <p:spPr>
          <a:xfrm>
            <a:off x="1764792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813816" y="408051"/>
                </a:moveTo>
                <a:cubicBezTo>
                  <a:pt x="813816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B7C9DE"/>
            </a:solidFill>
            <a:prstDash val="solid"/>
            <a:tailEnd type="triangle"/>
          </a:ln>
        </p:spPr>
      </p:sp>
      <p:sp>
        <p:nvSpPr>
          <p:cNvPr id="143" name="Shape 141"/>
          <p:cNvSpPr/>
          <p:nvPr/>
        </p:nvSpPr>
        <p:spPr>
          <a:xfrm>
            <a:off x="2587752" y="2619756"/>
            <a:ext cx="694944" cy="408051"/>
          </a:xfrm>
          <a:custGeom>
            <a:avLst/>
            <a:gdLst/>
            <a:ahLst/>
            <a:cxnLst/>
            <a:rect l="l" t="t" r="r" b="b"/>
            <a:pathLst>
              <a:path w="694944" h="408051">
                <a:moveTo>
                  <a:pt x="694944" y="408051"/>
                </a:moveTo>
                <a:cubicBezTo>
                  <a:pt x="694944" y="204026"/>
                  <a:pt x="0" y="204026"/>
                  <a:pt x="0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88A7C"/>
            </a:solidFill>
            <a:prstDash val="solid"/>
            <a:tailEnd type="triangle"/>
          </a:ln>
        </p:spPr>
      </p:sp>
      <p:sp>
        <p:nvSpPr>
          <p:cNvPr id="144" name="Shape 142"/>
          <p:cNvSpPr/>
          <p:nvPr/>
        </p:nvSpPr>
        <p:spPr>
          <a:xfrm>
            <a:off x="1408176" y="2619756"/>
            <a:ext cx="813816" cy="408051"/>
          </a:xfrm>
          <a:custGeom>
            <a:avLst/>
            <a:gdLst/>
            <a:ahLst/>
            <a:cxnLst/>
            <a:rect l="l" t="t" r="r" b="b"/>
            <a:pathLst>
              <a:path w="813816" h="408051">
                <a:moveTo>
                  <a:pt x="0" y="408051"/>
                </a:moveTo>
                <a:cubicBezTo>
                  <a:pt x="0" y="204026"/>
                  <a:pt x="813816" y="204026"/>
                  <a:pt x="813816" y="0"/>
                </a:cubicBezTo>
              </a:path>
            </a:pathLst>
          </a:custGeom>
          <a:solidFill>
            <a:srgbClr val="FFFFFF">
              <a:alpha val="0"/>
            </a:srgbClr>
          </a:solidFill>
          <a:ln w="13970">
            <a:solidFill>
              <a:srgbClr val="E88A7C"/>
            </a:solidFill>
            <a:prstDash val="solid"/>
            <a:tailEnd type="triangle"/>
          </a:ln>
        </p:spPr>
      </p:sp>
      <p:sp>
        <p:nvSpPr>
          <p:cNvPr id="145" name="Text 143"/>
          <p:cNvSpPr txBox="1"/>
          <p:nvPr/>
        </p:nvSpPr>
        <p:spPr>
          <a:xfrm>
            <a:off x="91440" y="5522976"/>
            <a:ext cx="3803904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(a) Dual-stream Attention</a:t>
            </a:r>
            <a:endParaRPr lang="en-US" sz="1100" dirty="0"/>
          </a:p>
        </p:txBody>
      </p:sp>
      <p:sp>
        <p:nvSpPr>
          <p:cNvPr id="146" name="Text 144"/>
          <p:cNvSpPr txBox="1"/>
          <p:nvPr/>
        </p:nvSpPr>
        <p:spPr>
          <a:xfrm>
            <a:off x="6784848" y="841248"/>
            <a:ext cx="365760" cy="3108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…</a:t>
            </a:r>
            <a:endParaRPr lang="en-US" sz="1050" dirty="0"/>
          </a:p>
        </p:txBody>
      </p:sp>
      <p:sp>
        <p:nvSpPr>
          <p:cNvPr id="147" name="Text 145"/>
          <p:cNvSpPr txBox="1"/>
          <p:nvPr/>
        </p:nvSpPr>
        <p:spPr>
          <a:xfrm>
            <a:off x="4279392" y="5522976"/>
            <a:ext cx="4059936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(b) Dual-stream MoE</a:t>
            </a:r>
            <a:endParaRPr lang="en-US" sz="1100" dirty="0"/>
          </a:p>
        </p:txBody>
      </p:sp>
      <p:sp>
        <p:nvSpPr>
          <p:cNvPr id="148" name="Text 146"/>
          <p:cNvSpPr txBox="1"/>
          <p:nvPr/>
        </p:nvSpPr>
        <p:spPr>
          <a:xfrm>
            <a:off x="4992624" y="16459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initialized from pretrained model, finetuned in ours</a:t>
            </a:r>
            <a:endParaRPr lang="en-US" sz="950" dirty="0"/>
          </a:p>
        </p:txBody>
      </p:sp>
      <p:sp>
        <p:nvSpPr>
          <p:cNvPr id="149" name="Text 147"/>
          <p:cNvSpPr txBox="1"/>
          <p:nvPr/>
        </p:nvSpPr>
        <p:spPr>
          <a:xfrm>
            <a:off x="4992624" y="438912"/>
            <a:ext cx="323697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new parameters, trained from scratch</a:t>
            </a:r>
            <a:endParaRPr lang="en-US" sz="950" dirty="0"/>
          </a:p>
        </p:txBody>
      </p:sp>
      <p:sp>
        <p:nvSpPr>
          <p:cNvPr id="150" name="Text 148"/>
          <p:cNvSpPr txBox="1"/>
          <p:nvPr/>
        </p:nvSpPr>
        <p:spPr>
          <a:xfrm>
            <a:off x="8513445" y="64008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1" name="Text 149"/>
          <p:cNvSpPr txBox="1"/>
          <p:nvPr/>
        </p:nvSpPr>
        <p:spPr>
          <a:xfrm>
            <a:off x="8513445" y="87782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8513445" y="251460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3</a:t>
            </a:r>
            <a:endParaRPr lang="en-US" sz="1050" dirty="0"/>
          </a:p>
        </p:txBody>
      </p:sp>
      <p:sp>
        <p:nvSpPr>
          <p:cNvPr id="153" name="Text 151"/>
          <p:cNvSpPr txBox="1"/>
          <p:nvPr/>
        </p:nvSpPr>
        <p:spPr>
          <a:xfrm>
            <a:off x="8513445" y="275234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denoise</a:t>
            </a:r>
            <a:endParaRPr lang="en-US" sz="1050" dirty="0"/>
          </a:p>
        </p:txBody>
      </p:sp>
      <p:sp>
        <p:nvSpPr>
          <p:cNvPr id="154" name="Text 152"/>
          <p:cNvSpPr txBox="1"/>
          <p:nvPr/>
        </p:nvSpPr>
        <p:spPr>
          <a:xfrm>
            <a:off x="8513445" y="4389120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r" indent="0" marL="0">
              <a:buNone/>
            </a:pPr>
            <a:r>
              <a:rPr lang="en-US" sz="105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4</a:t>
            </a:r>
            <a:endParaRPr lang="en-US" sz="1050" dirty="0"/>
          </a:p>
        </p:txBody>
      </p:sp>
      <p:sp>
        <p:nvSpPr>
          <p:cNvPr id="155" name="Text 153"/>
          <p:cNvSpPr txBox="1"/>
          <p:nvPr/>
        </p:nvSpPr>
        <p:spPr>
          <a:xfrm>
            <a:off x="8513445" y="4626864"/>
            <a:ext cx="67665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draft</a:t>
            </a:r>
            <a:endParaRPr lang="en-US" sz="1050" dirty="0"/>
          </a:p>
        </p:txBody>
      </p:sp>
      <p:sp>
        <p:nvSpPr>
          <p:cNvPr id="156" name="Text 154"/>
          <p:cNvSpPr txBox="1"/>
          <p:nvPr/>
        </p:nvSpPr>
        <p:spPr>
          <a:xfrm>
            <a:off x="8723376" y="5522976"/>
            <a:ext cx="3465957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0303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(c) Dual-stream Decoding Process</a:t>
            </a:r>
            <a:endParaRPr lang="en-US" sz="1100" dirty="0"/>
          </a:p>
        </p:txBody>
      </p:sp>
      <p:sp>
        <p:nvSpPr>
          <p:cNvPr id="157" name="Shape 155"/>
          <p:cNvSpPr/>
          <p:nvPr/>
        </p:nvSpPr>
        <p:spPr>
          <a:xfrm>
            <a:off x="1051560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2752344" y="1836801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5367528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068312" y="2747772"/>
            <a:ext cx="182880" cy="1828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097280" y="1928241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43000" y="1882521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2798064" y="1928241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2843784" y="1882521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5413248" y="2839212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5458968" y="2793492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7114032" y="2839212"/>
            <a:ext cx="91440" cy="3658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7159752" y="2793492"/>
            <a:ext cx="3658" cy="91440"/>
          </a:xfrm>
          <a:prstGeom prst="line">
            <a:avLst/>
          </a:prstGeom>
          <a:noFill/>
          <a:ln w="19050">
            <a:solidFill>
              <a:srgbClr val="30303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2026-09-24T02:47:56Z</dcterms:created>
  <dcterms:modified xsi:type="dcterms:W3CDTF">2026-09-24T02:47:56Z</dcterms:modified>
</cp:coreProperties>
</file>